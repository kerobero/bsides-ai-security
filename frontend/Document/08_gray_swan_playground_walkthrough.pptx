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screenshot: Screenshot 2026-04-19 at 4.35.05 PM.png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screenshot: Screenshot 2026-04-19 at 4.35.05 PM.png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screenshot: Screenshot 2026-04-19 at 4.35.05 PM.png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screenshot: Screenshot 2026-04-19 at 4.35.05 PM.png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screenshot: Screenshot 2026-04-19 at 4.35.05 PM.png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1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6"/>
          </a:solidFill>
          <a:ln w="12700">
            <a:solidFill>
              <a:srgbClr val="1112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 Swan Playground Walkthrough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12700">
            <a:solidFill>
              <a:srgbClr val="2A2E36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explain the Gray Swan Playground screen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5039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walkthrough you can use live in the workshop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DDE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the audience read the page left to right and connect it to the concepts from the labs.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CBD5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sidebar = navigation and scope of the product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CBD5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panel = where attacks are tested against the agent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CBD5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side = agent configuration, instructions, and tools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CBD5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examples = prebuilt misuse scenarios to accelerate red teaming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23560" y="1170432"/>
            <a:ext cx="6035040" cy="5257800"/>
          </a:xfrm>
          <a:prstGeom prst="roundRect">
            <a:avLst>
              <a:gd name="adj" fmla="val 1391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7" name="Image 0" descr="/mnt/data/gray_swan_slides/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963103"/>
            <a:ext cx="5788152" cy="36175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06440" y="599846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screen, four ideas: navigation, conversation, policy, and tools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map: what each region means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5039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first when introducing the interface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7498080" cy="5166360"/>
          </a:xfrm>
          <a:prstGeom prst="roundRect">
            <a:avLst>
              <a:gd name="adj" fmla="val 1416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5" name="Image 0" descr="/mnt/data/gray_swan_slides/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77328"/>
            <a:ext cx="7269480" cy="45434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965960"/>
            <a:ext cx="310896" cy="310896"/>
          </a:xfrm>
          <a:prstGeom prst="ellipse">
            <a:avLst/>
          </a:prstGeom>
          <a:solidFill>
            <a:srgbClr val="2DA2FF"/>
          </a:solidFill>
          <a:ln w="12700">
            <a:solidFill>
              <a:srgbClr val="2DA2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76933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11880" y="1280160"/>
            <a:ext cx="310896" cy="310896"/>
          </a:xfrm>
          <a:prstGeom prst="ellipse">
            <a:avLst/>
          </a:prstGeom>
          <a:solidFill>
            <a:srgbClr val="06C18F"/>
          </a:solidFill>
          <a:ln w="12700">
            <a:solidFill>
              <a:srgbClr val="06C18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11880" y="1291133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95160" y="202996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95160" y="2040941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93008" y="4617720"/>
            <a:ext cx="310896" cy="3108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93008" y="4628693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25296" y="2121408"/>
            <a:ext cx="914400" cy="594360"/>
          </a:xfrm>
          <a:prstGeom prst="line">
            <a:avLst/>
          </a:prstGeom>
          <a:noFill/>
          <a:ln w="12700">
            <a:solidFill>
              <a:srgbClr val="2DA2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22776" y="1435608"/>
            <a:ext cx="1051560" cy="502920"/>
          </a:xfrm>
          <a:prstGeom prst="line">
            <a:avLst/>
          </a:prstGeom>
          <a:noFill/>
          <a:ln w="12700">
            <a:solidFill>
              <a:srgbClr val="06C18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06056" y="2185416"/>
            <a:ext cx="1005840" cy="6858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03904" y="4773168"/>
            <a:ext cx="1143000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0" y="118872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1188720"/>
            <a:ext cx="73152" cy="1097280"/>
          </a:xfrm>
          <a:prstGeom prst="rect">
            <a:avLst/>
          </a:prstGeom>
          <a:solidFill>
            <a:srgbClr val="2DA2FF"/>
          </a:solidFill>
          <a:ln w="12700">
            <a:solidFill>
              <a:srgbClr val="2DA2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75904" y="1298448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Navigation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375904" y="1545336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CC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links tell you the product scope: agents, projects, policies, attack scenarios, and activity.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0" y="24231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0" y="2423160"/>
            <a:ext cx="73152" cy="1097280"/>
          </a:xfrm>
          <a:prstGeom prst="rect">
            <a:avLst/>
          </a:prstGeom>
          <a:solidFill>
            <a:srgbClr val="06C18F"/>
          </a:solidFill>
          <a:ln w="12700">
            <a:solidFill>
              <a:srgbClr val="06C1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75904" y="2532888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Testing workspace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375904" y="2779776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CC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center panel is the live conversation area where you try harmful prompts and watch the response.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229600" y="36576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0" y="365760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75904" y="3767328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Guardrails &amp; setup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375904" y="4014216"/>
            <a:ext cx="322783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CC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column defines the agent, model, security policy, instructions, and exposed tools.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229600" y="49377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29600" y="4937760"/>
            <a:ext cx="73152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75904" y="5047488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Attack starters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8375904" y="5294376"/>
            <a:ext cx="322783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CC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tiles are ready-made misuse cases. They accelerate red teaming and make the demo repeatable.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it left to right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5039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flow helps non-technical audiences understand the page quickly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148840" cy="4114800"/>
          </a:xfrm>
          <a:prstGeom prst="roundRect">
            <a:avLst>
              <a:gd name="adj" fmla="val 2553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5" name="Image 0" descr="/mnt/data/gray_swan_slides/left_n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115" y="1344168"/>
            <a:ext cx="1319305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54406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1. Sidebar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56875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CD"/>
                </a:solidFill>
              </a:rPr>
              <a:t>Say: this tells us what the platform manages and where policy, agents, and scenarios live.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6080" y="1234440"/>
            <a:ext cx="4023360" cy="4114800"/>
          </a:xfrm>
          <a:prstGeom prst="roundRect">
            <a:avLst>
              <a:gd name="adj" fmla="val 1364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9" name="Image 1" descr="/mnt/data/gray_swan_slides/center_con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32" y="1344168"/>
            <a:ext cx="3684513" cy="3749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72384" y="54406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2. Playground / conversation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72384" y="5687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CD"/>
                </a:solidFill>
              </a:rPr>
              <a:t>Say: this is the working area. You test prompts, observe policy enforcement, and compare safe vs unsafe behavior.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269480" y="1234440"/>
            <a:ext cx="4416552" cy="4114800"/>
          </a:xfrm>
          <a:prstGeom prst="roundRect">
            <a:avLst>
              <a:gd name="adj" fmla="val 1333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3" name="Image 2" descr="/mnt/data/gray_swan_slides/right_conf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938" y="1344168"/>
            <a:ext cx="2458493" cy="3749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24928" y="54406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3. Configuration + tools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424928" y="5687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CD"/>
                </a:solidFill>
              </a:rPr>
              <a:t>Say: this is where you see what the agent is allowed to be, what model it uses, and what tools it can touch.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call out when you demo it live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5039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policy, tools, and the attack examples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828800"/>
          </a:xfrm>
          <a:prstGeom prst="roundRect">
            <a:avLst>
              <a:gd name="adj" fmla="val 2500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5" name="Image 0" descr="/mnt/data/gray_swan_slides/config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870" y="1344168"/>
            <a:ext cx="2280315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3716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</a:rPr>
              <a:t>Agent configuration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9160" y="166420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CBD6"/>
                </a:solidFill>
              </a:rPr>
              <a:t>Explain that model choice, security policy, and agent type are part of the control plane. They shape what the system should and should not do.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3931920" cy="1920240"/>
          </a:xfrm>
          <a:prstGeom prst="roundRect">
            <a:avLst>
              <a:gd name="adj" fmla="val 2381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9" name="Image 1" descr="/mnt/data/gray_swan_slides/agent_detai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17" y="3447288"/>
            <a:ext cx="1953023" cy="1664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34930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</a:rPr>
              <a:t>Instructions &amp; tools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09160" y="3785616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CBD6"/>
                </a:solidFill>
              </a:rPr>
              <a:t>This is where you connect the screen to the workshop labs: instructions map to prompt boundaries, and tools map to authorization and excessive agency.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72400" y="1234440"/>
            <a:ext cx="3858768" cy="4023360"/>
          </a:xfrm>
          <a:prstGeom prst="roundRect">
            <a:avLst>
              <a:gd name="adj" fmla="val 1185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3" name="Image 2" descr="/mnt/data/gray_swan_slides/bottom_examp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444295"/>
            <a:ext cx="3639312" cy="16376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19288" y="33832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</a:rPr>
              <a:t>Attack examples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046720" y="365760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2CBD6"/>
                </a:solidFill>
              </a:rPr>
              <a:t>Use them to show repeatable misuse cases.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2CBD6"/>
                </a:solidFill>
              </a:rPr>
              <a:t>They are ideal for “before vs after” policy testing.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2CBD6"/>
                </a:solidFill>
              </a:rPr>
              <a:t>They make red teaming concrete for the audience.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talk track for this screen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5039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lines you can say without getting lost in the interface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52728"/>
            <a:ext cx="310896" cy="310896"/>
          </a:xfrm>
          <a:prstGeom prst="ellipse">
            <a:avLst/>
          </a:prstGeom>
          <a:solidFill>
            <a:srgbClr val="2DA2FF"/>
          </a:solidFill>
          <a:ln w="12700">
            <a:solidFill>
              <a:srgbClr val="2DA2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263701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Start with the center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49047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2CBD6"/>
                </a:solidFill>
              </a:rPr>
              <a:t>“This is the live testing area where we try prompts and observe how the agent behaves.”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58368" y="2185416"/>
            <a:ext cx="310896" cy="310896"/>
          </a:xfrm>
          <a:prstGeom prst="ellipse">
            <a:avLst/>
          </a:prstGeom>
          <a:solidFill>
            <a:srgbClr val="06C18F"/>
          </a:solidFill>
          <a:ln w="12700">
            <a:solidFill>
              <a:srgbClr val="06C18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196389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1671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Move to the right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2CBD6"/>
                </a:solidFill>
              </a:rPr>
              <a:t>“This column tells us what the agent is, what model it uses, what policy protects it, and what tools it can access.”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58368" y="311810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129077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0998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Point to instructions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35584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2CBD6"/>
                </a:solidFill>
              </a:rPr>
              <a:t>“These instructions and tools are where many risks live: prompt injection, tool misuse, and policy drift.”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58368" y="4050792"/>
            <a:ext cx="310896" cy="3108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4061765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325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Point to examples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288536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2CBD6"/>
                </a:solidFill>
              </a:rPr>
              <a:t>“These attack examples are ready-made red team scenarios that help us test behavior consistently.”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58368" y="4983480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4994453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965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</a:rPr>
              <a:t>Tie back to the workshop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5221224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2CBD6"/>
                </a:solidFill>
              </a:rPr>
              <a:t>“Everything on this page maps back to the controls we discussed: boundaries, source trust, authorization, filtering, and policy enforcement.”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8321040" y="1280160"/>
            <a:ext cx="2834640" cy="4526280"/>
          </a:xfrm>
          <a:prstGeom prst="roundRect">
            <a:avLst>
              <a:gd name="adj" fmla="val 1935"/>
            </a:avLst>
          </a:prstGeom>
          <a:solidFill>
            <a:srgbClr val="171A20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25" name="Image 0" descr="/mnt/data/gray_swan_slides/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2712339"/>
            <a:ext cx="2615184" cy="163449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275320" y="5870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30" i="1" dirty="0">
                <a:solidFill>
                  <a:srgbClr val="8FA0B3"/>
                </a:solidFill>
              </a:rPr>
              <a:t>Tip: keep this part to 10–15 minutes. The goal is to connect the interface to concepts, not to teach the whole product.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Explaining the Gray Swan Playground Screen</dc:title>
  <dc:subject>Gray Swan screen walkthrough</dc:subject>
  <dc:creator>OpenAI</dc:creator>
  <cp:lastModifiedBy>OpenAI</cp:lastModifiedBy>
  <cp:revision>1</cp:revision>
  <dcterms:created xsi:type="dcterms:W3CDTF">2026-04-19T20:42:43Z</dcterms:created>
  <dcterms:modified xsi:type="dcterms:W3CDTF">2026-04-19T20:42:43Z</dcterms:modified>
</cp:coreProperties>
</file>